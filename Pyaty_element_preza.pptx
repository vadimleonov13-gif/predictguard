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7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3C40B-13FD-4200-B318-6A4C4FE3DBD5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CD2E3-4C06-453C-9083-F08C8284C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92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Обложка: название проекта, ценность в одном предложении, команда и участники.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095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6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322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Пользователь: конкретная ЦА, выбранный сегмент и контекст возникновения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812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Решение: что за продукт и как он решает проблему. Добавьте скриншот или схему.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341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Ключевые возможности: 3–5 функций, нужных для решения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260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Killer feature: одна особенность, которую жюри должно запомнить.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556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это работает: один пользовательский путь от ввода до следующего шага.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338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Рабочий прототип: скриншоты MVP и что покажете вживую.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865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Развитие: этапы после хакатона, сроки — ваши.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64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5CB2-C3E2-4768-93D8-5DFE3C7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E2FC57-57DB-96EB-BCA3-CD978B876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8941E6-A6CD-DF12-A9DC-160C3DADA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Обложка: название проекта, ценность в одном предложении, команда и участники.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DFACB6-23EF-A7C2-89DC-1595A18FD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85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9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4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5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88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74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67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17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96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08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09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3" name="PixelHeart">
            <a:extLst>
              <a:ext uri="{FF2B5EF4-FFF2-40B4-BE49-F238E27FC236}">
                <a16:creationId xmlns:a16="http://schemas.microsoft.com/office/drawing/2014/main" id="{F5C8B72C-3AD7-6926-5AEC-C05CF0C33B5A}"/>
              </a:ext>
            </a:extLst>
          </p:cNvPr>
          <p:cNvGrpSpPr/>
          <p:nvPr/>
        </p:nvGrpSpPr>
        <p:grpSpPr>
          <a:xfrm>
            <a:off x="10033000" y="1905000"/>
            <a:ext cx="1155700" cy="977900"/>
            <a:chOff x="10033000" y="1905000"/>
            <a:chExt cx="1155700" cy="9779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FA1CEAC-814B-AF91-570B-D6766736A7AB}"/>
                </a:ext>
              </a:extLst>
            </p:cNvPr>
            <p:cNvSpPr/>
            <p:nvPr/>
          </p:nvSpPr>
          <p:spPr>
            <a:xfrm>
              <a:off x="102108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F8E8D76-80CE-C3B5-1EFA-6CD447A904D0}"/>
                </a:ext>
              </a:extLst>
            </p:cNvPr>
            <p:cNvSpPr/>
            <p:nvPr/>
          </p:nvSpPr>
          <p:spPr>
            <a:xfrm>
              <a:off x="102997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1245EAC-1941-3FE8-01CE-EEF603530E59}"/>
                </a:ext>
              </a:extLst>
            </p:cNvPr>
            <p:cNvSpPr/>
            <p:nvPr/>
          </p:nvSpPr>
          <p:spPr>
            <a:xfrm>
              <a:off x="103886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8189630-6144-42B0-36A7-1C181D098375}"/>
                </a:ext>
              </a:extLst>
            </p:cNvPr>
            <p:cNvSpPr/>
            <p:nvPr/>
          </p:nvSpPr>
          <p:spPr>
            <a:xfrm>
              <a:off x="107442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6D51848-8B4A-B5CA-F151-8F1116855262}"/>
                </a:ext>
              </a:extLst>
            </p:cNvPr>
            <p:cNvSpPr/>
            <p:nvPr/>
          </p:nvSpPr>
          <p:spPr>
            <a:xfrm>
              <a:off x="108331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61E5F4B-1594-8BA9-2D71-5DFCDC779254}"/>
                </a:ext>
              </a:extLst>
            </p:cNvPr>
            <p:cNvSpPr/>
            <p:nvPr/>
          </p:nvSpPr>
          <p:spPr>
            <a:xfrm>
              <a:off x="109220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17ABEF9-5953-E769-13F2-FF8A50CFD467}"/>
                </a:ext>
              </a:extLst>
            </p:cNvPr>
            <p:cNvSpPr/>
            <p:nvPr/>
          </p:nvSpPr>
          <p:spPr>
            <a:xfrm>
              <a:off x="10121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1D3610A-31F2-1B47-FA1A-77F0A6E70DD5}"/>
                </a:ext>
              </a:extLst>
            </p:cNvPr>
            <p:cNvSpPr/>
            <p:nvPr/>
          </p:nvSpPr>
          <p:spPr>
            <a:xfrm>
              <a:off x="104775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F5216EC-6B81-6A80-90E1-27667758B0A6}"/>
                </a:ext>
              </a:extLst>
            </p:cNvPr>
            <p:cNvSpPr/>
            <p:nvPr/>
          </p:nvSpPr>
          <p:spPr>
            <a:xfrm>
              <a:off x="106553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C3D8D8D-2945-51A5-2238-627FEB5FAD56}"/>
                </a:ext>
              </a:extLst>
            </p:cNvPr>
            <p:cNvSpPr/>
            <p:nvPr/>
          </p:nvSpPr>
          <p:spPr>
            <a:xfrm>
              <a:off x="11010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82430AD-E22B-DBDA-1796-B8C685A46A1F}"/>
                </a:ext>
              </a:extLst>
            </p:cNvPr>
            <p:cNvSpPr/>
            <p:nvPr/>
          </p:nvSpPr>
          <p:spPr>
            <a:xfrm>
              <a:off x="100330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5CCEE16-614A-B946-A381-0F431296166B}"/>
                </a:ext>
              </a:extLst>
            </p:cNvPr>
            <p:cNvSpPr/>
            <p:nvPr/>
          </p:nvSpPr>
          <p:spPr>
            <a:xfrm>
              <a:off x="105664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AEABE84-F213-036B-9222-E3AFE7C3C1DA}"/>
                </a:ext>
              </a:extLst>
            </p:cNvPr>
            <p:cNvSpPr/>
            <p:nvPr/>
          </p:nvSpPr>
          <p:spPr>
            <a:xfrm>
              <a:off x="110998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C178A37-7D81-B3EF-5F22-32422BBFA4D6}"/>
                </a:ext>
              </a:extLst>
            </p:cNvPr>
            <p:cNvSpPr/>
            <p:nvPr/>
          </p:nvSpPr>
          <p:spPr>
            <a:xfrm>
              <a:off x="100330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5776D77-A9A4-12C6-265B-2BE2BC402BD9}"/>
                </a:ext>
              </a:extLst>
            </p:cNvPr>
            <p:cNvSpPr/>
            <p:nvPr/>
          </p:nvSpPr>
          <p:spPr>
            <a:xfrm>
              <a:off x="110998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AD5CC5-4D2A-2B92-CF1D-C952643367BC}"/>
                </a:ext>
              </a:extLst>
            </p:cNvPr>
            <p:cNvSpPr/>
            <p:nvPr/>
          </p:nvSpPr>
          <p:spPr>
            <a:xfrm>
              <a:off x="100330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C586510-8E90-5384-640D-AA17F0AF32F5}"/>
                </a:ext>
              </a:extLst>
            </p:cNvPr>
            <p:cNvSpPr/>
            <p:nvPr/>
          </p:nvSpPr>
          <p:spPr>
            <a:xfrm>
              <a:off x="110998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BD3A775-A60D-3972-6324-973BF975DC07}"/>
                </a:ext>
              </a:extLst>
            </p:cNvPr>
            <p:cNvSpPr/>
            <p:nvPr/>
          </p:nvSpPr>
          <p:spPr>
            <a:xfrm>
              <a:off x="10121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A4F7047-8026-440B-AE25-068CDC3DD338}"/>
                </a:ext>
              </a:extLst>
            </p:cNvPr>
            <p:cNvSpPr/>
            <p:nvPr/>
          </p:nvSpPr>
          <p:spPr>
            <a:xfrm>
              <a:off x="11010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8627609-2196-C575-F0E6-950DF9B3F6DD}"/>
                </a:ext>
              </a:extLst>
            </p:cNvPr>
            <p:cNvSpPr/>
            <p:nvPr/>
          </p:nvSpPr>
          <p:spPr>
            <a:xfrm>
              <a:off x="102108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613F1720-BEB7-0D69-8F1A-2343373AEB02}"/>
                </a:ext>
              </a:extLst>
            </p:cNvPr>
            <p:cNvSpPr/>
            <p:nvPr/>
          </p:nvSpPr>
          <p:spPr>
            <a:xfrm>
              <a:off x="109220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7DFA7CC-29DC-91CF-20D2-1EF249E7D6DB}"/>
                </a:ext>
              </a:extLst>
            </p:cNvPr>
            <p:cNvSpPr/>
            <p:nvPr/>
          </p:nvSpPr>
          <p:spPr>
            <a:xfrm>
              <a:off x="102997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348978D-58E8-3B0D-D3A6-E42FDD618FE6}"/>
                </a:ext>
              </a:extLst>
            </p:cNvPr>
            <p:cNvSpPr/>
            <p:nvPr/>
          </p:nvSpPr>
          <p:spPr>
            <a:xfrm>
              <a:off x="108331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620EAE5D-5139-E7D8-4C97-37F3B8612080}"/>
                </a:ext>
              </a:extLst>
            </p:cNvPr>
            <p:cNvSpPr/>
            <p:nvPr/>
          </p:nvSpPr>
          <p:spPr>
            <a:xfrm>
              <a:off x="103886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8B5957FB-B83B-C9C8-8841-1EAF6C3378B2}"/>
                </a:ext>
              </a:extLst>
            </p:cNvPr>
            <p:cNvSpPr/>
            <p:nvPr/>
          </p:nvSpPr>
          <p:spPr>
            <a:xfrm>
              <a:off x="107442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CF85DA6-1D02-21D4-CD83-78005CA40D02}"/>
                </a:ext>
              </a:extLst>
            </p:cNvPr>
            <p:cNvSpPr/>
            <p:nvPr/>
          </p:nvSpPr>
          <p:spPr>
            <a:xfrm>
              <a:off x="104775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B43689A6-AB4E-27C1-E472-0307F5FA5877}"/>
                </a:ext>
              </a:extLst>
            </p:cNvPr>
            <p:cNvSpPr/>
            <p:nvPr/>
          </p:nvSpPr>
          <p:spPr>
            <a:xfrm>
              <a:off x="106553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8E3A6CD2-EBBE-ED52-926C-59C78F7B3F0B}"/>
                </a:ext>
              </a:extLst>
            </p:cNvPr>
            <p:cNvSpPr/>
            <p:nvPr/>
          </p:nvSpPr>
          <p:spPr>
            <a:xfrm>
              <a:off x="10566400" y="2794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 txBox="1"/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/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 txBox="1"/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 txBox="1"/>
          <p:nvPr/>
        </p:nvSpPr>
        <p:spPr>
          <a:xfrm>
            <a:off x="609600" y="2590800"/>
            <a:ext cx="96901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00" dirty="0" err="1">
                <a:solidFill>
                  <a:srgbClr val="FFFFFF"/>
                </a:solidFill>
                <a:latin typeface="Arial Black" panose="020B0A04020102020204" pitchFamily="34" charset="0"/>
              </a:rPr>
              <a:t>PredictGuard</a:t>
            </a:r>
            <a:endParaRPr lang="ru-RU" sz="4400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 txBox="1"/>
          <p:nvPr/>
        </p:nvSpPr>
        <p:spPr>
          <a:xfrm>
            <a:off x="609600" y="3454400"/>
            <a:ext cx="812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Облачная система предиктивной диагностики оборудования для МСБ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 txBox="1"/>
          <p:nvPr/>
        </p:nvSpPr>
        <p:spPr>
          <a:xfrm>
            <a:off x="6096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 txBox="1"/>
          <p:nvPr/>
        </p:nvSpPr>
        <p:spPr>
          <a:xfrm>
            <a:off x="609600" y="45974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Аналитики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 txBox="1"/>
          <p:nvPr/>
        </p:nvSpPr>
        <p:spPr>
          <a:xfrm>
            <a:off x="40640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 txBox="1"/>
          <p:nvPr/>
        </p:nvSpPr>
        <p:spPr>
          <a:xfrm>
            <a:off x="4064000" y="45974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Алиев А.— лидер · Леонов В. — 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</a:rPr>
              <a:t>UX/UI-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дизайнер · Борискина К.— Аналитик · </a:t>
            </a:r>
          </a:p>
          <a:p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</a:rPr>
              <a:t>Тарбеева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 С. — Идейный разработчик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C41C82AD-64B5-E9C4-943F-80C76694E532}"/>
              </a:ext>
            </a:extLst>
          </p:cNvPr>
          <p:cNvSpPr/>
          <p:nvPr/>
        </p:nvSpPr>
        <p:spPr>
          <a:xfrm>
            <a:off x="609600" y="5334000"/>
            <a:ext cx="109728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15BB7C-0290-285C-FFC1-987FC7EC766A}"/>
              </a:ext>
            </a:extLst>
          </p:cNvPr>
          <p:cNvSpPr txBox="1"/>
          <p:nvPr/>
        </p:nvSpPr>
        <p:spPr>
          <a:xfrm>
            <a:off x="769620" y="5435600"/>
            <a:ext cx="1063498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</a:rPr>
              <a:t>Облачная система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</a:rPr>
              <a:t>PredictGuard</a:t>
            </a:r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</a:rPr>
              <a:t> снижает простои и затраты на ремонт оборудования.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C688F3-3A01-7D3D-4D1C-10A741D8271F}"/>
              </a:ext>
            </a:extLst>
          </p:cNvPr>
          <p:cNvCxnSpPr/>
          <p:nvPr/>
        </p:nvCxnSpPr>
        <p:spPr>
          <a:xfrm>
            <a:off x="609600" y="60706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F0B3926-B1BC-713C-B406-97E6CEE1A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02 / 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731520" y="65913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Команда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1400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68641674-9305-5B42-D751-D880F4C2207C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D4D756AA-C837-B03F-4F45-BF44BECFBD64}"/>
              </a:ext>
            </a:extLst>
          </p:cNvPr>
          <p:cNvSpPr/>
          <p:nvPr/>
        </p:nvSpPr>
        <p:spPr>
          <a:xfrm>
            <a:off x="3428871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3" name="Rounded Rectangle 2">
            <a:extLst>
              <a:ext uri="{FF2B5EF4-FFF2-40B4-BE49-F238E27FC236}">
                <a16:creationId xmlns:a16="http://schemas.microsoft.com/office/drawing/2014/main" id="{FECB1428-3F87-359A-E284-AE69EBBE9B07}"/>
              </a:ext>
            </a:extLst>
          </p:cNvPr>
          <p:cNvSpPr/>
          <p:nvPr/>
        </p:nvSpPr>
        <p:spPr>
          <a:xfrm>
            <a:off x="6166353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4" name="Rounded Rectangle 3">
            <a:extLst>
              <a:ext uri="{FF2B5EF4-FFF2-40B4-BE49-F238E27FC236}">
                <a16:creationId xmlns:a16="http://schemas.microsoft.com/office/drawing/2014/main" id="{380C0F64-22E0-BA34-E258-14695CCDF7E7}"/>
              </a:ext>
            </a:extLst>
          </p:cNvPr>
          <p:cNvSpPr/>
          <p:nvPr/>
        </p:nvSpPr>
        <p:spPr>
          <a:xfrm>
            <a:off x="8903835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2F186326-B731-9168-F371-BF3804663E4A}"/>
              </a:ext>
            </a:extLst>
          </p:cNvPr>
          <p:cNvSpPr/>
          <p:nvPr/>
        </p:nvSpPr>
        <p:spPr>
          <a:xfrm>
            <a:off x="685671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5F034BC4-76BA-09E9-20D7-7FC497224BCB}"/>
              </a:ext>
            </a:extLst>
          </p:cNvPr>
          <p:cNvSpPr txBox="1"/>
          <p:nvPr/>
        </p:nvSpPr>
        <p:spPr>
          <a:xfrm>
            <a:off x="3666996" y="4544383"/>
            <a:ext cx="122629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Вадим Леонов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7" name="TextBox 18">
            <a:extLst>
              <a:ext uri="{FF2B5EF4-FFF2-40B4-BE49-F238E27FC236}">
                <a16:creationId xmlns:a16="http://schemas.microsoft.com/office/drawing/2014/main" id="{6D584166-3CBB-97ED-CA95-E93ABCCF5F89}"/>
              </a:ext>
            </a:extLst>
          </p:cNvPr>
          <p:cNvSpPr txBox="1"/>
          <p:nvPr/>
        </p:nvSpPr>
        <p:spPr>
          <a:xfrm>
            <a:off x="3666996" y="4830133"/>
            <a:ext cx="10547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Plus Jakarta Sans"/>
              </a:rPr>
              <a:t>UX/UI-</a:t>
            </a:r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дизайнер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8" name="TextBox 19">
            <a:extLst>
              <a:ext uri="{FF2B5EF4-FFF2-40B4-BE49-F238E27FC236}">
                <a16:creationId xmlns:a16="http://schemas.microsoft.com/office/drawing/2014/main" id="{2547A341-0057-E4A8-9CB2-B394F94E23D1}"/>
              </a:ext>
            </a:extLst>
          </p:cNvPr>
          <p:cNvSpPr txBox="1"/>
          <p:nvPr/>
        </p:nvSpPr>
        <p:spPr>
          <a:xfrm>
            <a:off x="6404478" y="4544383"/>
            <a:ext cx="155767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Карина Борискина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18E4DAC3-B2BB-CDD6-97AF-BF7ED8CAC5BC}"/>
              </a:ext>
            </a:extLst>
          </p:cNvPr>
          <p:cNvSpPr txBox="1"/>
          <p:nvPr/>
        </p:nvSpPr>
        <p:spPr>
          <a:xfrm>
            <a:off x="6404478" y="4830133"/>
            <a:ext cx="62196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Аналитик</a:t>
            </a: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5492D0FD-ADF4-6555-8BE1-1927DF97AE59}"/>
              </a:ext>
            </a:extLst>
          </p:cNvPr>
          <p:cNvSpPr txBox="1"/>
          <p:nvPr/>
        </p:nvSpPr>
        <p:spPr>
          <a:xfrm>
            <a:off x="923796" y="4544383"/>
            <a:ext cx="108581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Артём Алиев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0A2F35CE-A44C-382B-C9AC-C799AD41DB6B}"/>
              </a:ext>
            </a:extLst>
          </p:cNvPr>
          <p:cNvSpPr txBox="1"/>
          <p:nvPr/>
        </p:nvSpPr>
        <p:spPr>
          <a:xfrm>
            <a:off x="923796" y="4830133"/>
            <a:ext cx="97962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Лидер проекта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B08028D-21EC-AFC3-DBCD-737A2399F4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36" b="24561"/>
          <a:stretch/>
        </p:blipFill>
        <p:spPr>
          <a:xfrm>
            <a:off x="679800" y="1646867"/>
            <a:ext cx="2602800" cy="2686362"/>
          </a:xfrm>
          <a:prstGeom prst="rect">
            <a:avLst/>
          </a:prstGeom>
          <a:ln>
            <a:solidFill>
              <a:srgbClr val="52C0A7"/>
            </a:solidFill>
          </a:ln>
        </p:spPr>
      </p:pic>
      <p:pic>
        <p:nvPicPr>
          <p:cNvPr id="37" name="Рисунок 36" descr="Изображение выглядит как одежда, человек, строительство, Брюк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2313DFF-1E2A-B74E-7185-AD4E6E1E0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58" t="22834" r="28666" b="44773"/>
          <a:stretch/>
        </p:blipFill>
        <p:spPr>
          <a:xfrm>
            <a:off x="6166200" y="1648702"/>
            <a:ext cx="2602800" cy="2684527"/>
          </a:xfrm>
          <a:prstGeom prst="rect">
            <a:avLst/>
          </a:prstGeom>
          <a:ln>
            <a:solidFill>
              <a:srgbClr val="52C0A7"/>
            </a:solidFill>
          </a:ln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39CEEB23-1C76-792A-9A1D-4B74450515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276" t="17759" r="19556"/>
          <a:stretch/>
        </p:blipFill>
        <p:spPr>
          <a:xfrm>
            <a:off x="3428871" y="1645988"/>
            <a:ext cx="2602800" cy="2679320"/>
          </a:xfrm>
          <a:prstGeom prst="rect">
            <a:avLst/>
          </a:prstGeom>
          <a:ln>
            <a:solidFill>
              <a:srgbClr val="52C0A7"/>
            </a:solidFill>
          </a:ln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2DAD350-FB7B-1145-DED1-91DE1E4903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128" t="42534" r="20552" b="12230"/>
          <a:stretch/>
        </p:blipFill>
        <p:spPr>
          <a:xfrm>
            <a:off x="8909400" y="1648806"/>
            <a:ext cx="2602800" cy="2679320"/>
          </a:xfrm>
          <a:prstGeom prst="rect">
            <a:avLst/>
          </a:prstGeom>
          <a:ln>
            <a:solidFill>
              <a:srgbClr val="52C0A7"/>
            </a:solidFill>
          </a:ln>
        </p:spPr>
      </p:pic>
      <p:sp>
        <p:nvSpPr>
          <p:cNvPr id="41" name="TextBox 17">
            <a:extLst>
              <a:ext uri="{FF2B5EF4-FFF2-40B4-BE49-F238E27FC236}">
                <a16:creationId xmlns:a16="http://schemas.microsoft.com/office/drawing/2014/main" id="{11643E7A-DFDA-31E6-125F-A4AA5DFA6C6C}"/>
              </a:ext>
            </a:extLst>
          </p:cNvPr>
          <p:cNvSpPr txBox="1"/>
          <p:nvPr/>
        </p:nvSpPr>
        <p:spPr>
          <a:xfrm>
            <a:off x="9105224" y="4544383"/>
            <a:ext cx="133440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Софья </a:t>
            </a:r>
            <a:r>
              <a:rPr lang="ru-RU" sz="1500" b="1" i="0" u="none" dirty="0" err="1">
                <a:solidFill>
                  <a:srgbClr val="0F172A"/>
                </a:solidFill>
                <a:latin typeface="Plus Jakarta Sans"/>
              </a:rPr>
              <a:t>Тарбеева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88B7D963-91F3-C931-95CE-2F7E2A751BB7}"/>
              </a:ext>
            </a:extLst>
          </p:cNvPr>
          <p:cNvSpPr txBox="1"/>
          <p:nvPr/>
        </p:nvSpPr>
        <p:spPr>
          <a:xfrm>
            <a:off x="9105224" y="4830133"/>
            <a:ext cx="14705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Идейный разработчик</a:t>
            </a:r>
          </a:p>
        </p:txBody>
      </p:sp>
    </p:spTree>
    <p:extLst>
      <p:ext uri="{BB962C8B-B14F-4D97-AF65-F5344CB8AC3E}">
        <p14:creationId xmlns:p14="http://schemas.microsoft.com/office/powerpoint/2010/main" val="207007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03 / 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09600" y="13208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 txBox="1"/>
          <p:nvPr/>
        </p:nvSpPr>
        <p:spPr>
          <a:xfrm>
            <a:off x="914400" y="14986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7FE3C4"/>
                </a:solidFill>
                <a:latin typeface="Arial" panose="020B0604020202020204" pitchFamily="34" charset="0"/>
              </a:rPr>
              <a:t>ГЛАВНАЯ ПРОБЛЕМА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 txBox="1"/>
          <p:nvPr/>
        </p:nvSpPr>
        <p:spPr>
          <a:xfrm>
            <a:off x="914400" y="1727200"/>
            <a:ext cx="10363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 b="1" dirty="0">
                <a:solidFill>
                  <a:srgbClr val="FFFFFF"/>
                </a:solidFill>
                <a:latin typeface="Arial" panose="020B0604020202020204" pitchFamily="34" charset="0"/>
              </a:rPr>
              <a:t>Факт о неисправности оборудования обнаруживается слишком поздно, что приводит к аварийным простоям и незапланированным затратам на ремонт.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0960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 txBox="1"/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КТО?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 txBox="1"/>
          <p:nvPr/>
        </p:nvSpPr>
        <p:spPr>
          <a:xfrm>
            <a:off x="86360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0F1B3D"/>
                </a:solidFill>
                <a:latin typeface="Arial" panose="020B0604020202020204" pitchFamily="34" charset="0"/>
              </a:rPr>
              <a:t>Владельцы и технические специалисты малых и средних производственных предприятий.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/>
          <p:nvPr/>
        </p:nvSpPr>
        <p:spPr>
          <a:xfrm>
            <a:off x="433451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/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 txBox="1"/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ЧТО ПРОИСХОДИТ?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0F1B3D"/>
                </a:solidFill>
                <a:latin typeface="Arial" panose="020B0604020202020204" pitchFamily="34" charset="0"/>
              </a:rPr>
              <a:t>Неисправности оборудования обнаруживаются только после появления серьёзных отклонений или поломки, когда производство уже может остановиться.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/>
          <p:nvPr/>
        </p:nvSpPr>
        <p:spPr>
          <a:xfrm>
            <a:off x="805942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/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 txBox="1"/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ПОЧЕМУ ЭТО ВАЖНО?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 txBox="1"/>
          <p:nvPr/>
        </p:nvSpPr>
        <p:spPr>
          <a:xfrm>
            <a:off x="831342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0F1B3D"/>
                </a:solidFill>
                <a:latin typeface="Arial" panose="020B0604020202020204" pitchFamily="34" charset="0"/>
              </a:rPr>
              <a:t>Неисправности оборудования приводят к простоям производства, незапланированным расходам на ремонт и срыву сроков заказов.</a:t>
            </a: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68641674-9305-5B42-D751-D880F4C2207C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39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7E102-3B36-75D6-C951-5BD09A21FF92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6818B-48E9-D250-EB7F-8E42B245248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04 / 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56B247D-FF20-5A24-8CB1-550DA9BC002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361991E-6A1F-D7A4-F342-F73157C707E7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9E4CE54-FFF6-A969-E9B7-9B4191403C9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E64657D-D2A1-AC5C-802A-698B9F6A725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CF97B05-DAC9-B61C-B394-D46CAB72099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8F21BAF-0531-CC27-610E-A88E52B080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EF228FD-634B-A71A-6C7F-040F622A9EB1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2FF8834-AC51-783B-F4EE-4B7ED1685F8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75657C1A-A19C-8442-2DF2-C0459A665C62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9DD9CD7-FA6E-9B7D-B5FB-6F4440A3B69B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9FCF398-0DA1-06A1-99C6-A118DBC767E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042711D-C84D-271D-0782-0139C41E5BD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47B9B6-8D31-2105-9375-AF83D4BDDE67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876DE32-1E85-27A7-8432-1E022F1AC27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6C9D4CC-EB52-68CA-6027-D9BA6C65929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3EA97F5-9416-1D12-093A-E48367F45EE3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C3CD0466-70EE-7302-F3A8-A98CCEB0C227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6D4264-7F21-BE89-589F-2CCF2AD9F9E4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1077BB96-9250-7E3A-60D3-D5469B8CED58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11507E5-1367-063F-3FB7-579C36B01586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38DA347-9E40-78BF-3146-EC62CD51A09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1742702-C865-2982-9428-433CD15D886C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9AA0890-1B5F-5A6F-2A35-47F9C431F15F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2E6DB67-44A6-88BB-218C-BDCCE0B584E5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92E34B9-24A9-424F-FB8D-A398D0B158D2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25126ED-7BE8-6B7F-7D71-7DC635CBDDFB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083EEE3-30A0-B936-95FC-0E80BC47DBBC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F1D36EB8-6D8B-59C0-D2BE-912333CB3546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1514C11-7344-35B2-746D-5912F3751BB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04BDA61-6CA5-F8A3-E4B4-3D04231048ED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Пользователь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6F126BF-6094-BB27-B39D-44322CB91499}"/>
              </a:ext>
            </a:extLst>
          </p:cNvPr>
          <p:cNvSpPr/>
          <p:nvPr/>
        </p:nvSpPr>
        <p:spPr>
          <a:xfrm>
            <a:off x="609600" y="1320800"/>
            <a:ext cx="3810000" cy="52070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25301E-C7AD-5393-65A8-95031F85168F}"/>
              </a:ext>
            </a:extLst>
          </p:cNvPr>
          <p:cNvSpPr txBox="1"/>
          <p:nvPr/>
        </p:nvSpPr>
        <p:spPr>
          <a:xfrm>
            <a:off x="863600" y="3378200"/>
            <a:ext cx="330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900" b="1" spc="150" dirty="0">
                <a:solidFill>
                  <a:srgbClr val="22A889"/>
                </a:solidFill>
                <a:latin typeface="Arial" panose="020B0604020202020204" pitchFamily="34" charset="0"/>
              </a:rPr>
              <a:t>ПОРТРЕТ ПОЛЬЗОВАТЕЛЯ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D70F14-28EE-F39B-E76B-840928F89DEE}"/>
              </a:ext>
            </a:extLst>
          </p:cNvPr>
          <p:cNvSpPr txBox="1"/>
          <p:nvPr/>
        </p:nvSpPr>
        <p:spPr>
          <a:xfrm>
            <a:off x="863600" y="3702050"/>
            <a:ext cx="3302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400" b="1" dirty="0">
                <a:solidFill>
                  <a:srgbClr val="0F1B3D"/>
                </a:solidFill>
                <a:latin typeface="Arial" panose="020B0604020202020204" pitchFamily="34" charset="0"/>
              </a:rPr>
              <a:t>Владелец малого или среднего производственного предприятия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2FB9B3-03D1-4631-B973-904400BC1A19}"/>
              </a:ext>
            </a:extLst>
          </p:cNvPr>
          <p:cNvSpPr txBox="1"/>
          <p:nvPr/>
        </p:nvSpPr>
        <p:spPr>
          <a:xfrm>
            <a:off x="863600" y="4622800"/>
            <a:ext cx="3302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50" dirty="0">
                <a:solidFill>
                  <a:srgbClr val="6B7892"/>
                </a:solidFill>
                <a:latin typeface="Arial" panose="020B0604020202020204" pitchFamily="34" charset="0"/>
              </a:rPr>
              <a:t>Управляет производством и контролирует состояние оборудования.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50" dirty="0">
                <a:solidFill>
                  <a:srgbClr val="6B7892"/>
                </a:solidFill>
                <a:latin typeface="Arial" panose="020B0604020202020204" pitchFamily="34" charset="0"/>
              </a:rPr>
              <a:t>Заинтересован в стабильной работе производства и снижении затрат.</a:t>
            </a:r>
          </a:p>
        </p:txBody>
      </p:sp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5164D08C-C9BD-405D-04D9-2F8AD717F7CD}"/>
              </a:ext>
            </a:extLst>
          </p:cNvPr>
          <p:cNvSpPr/>
          <p:nvPr/>
        </p:nvSpPr>
        <p:spPr>
          <a:xfrm>
            <a:off x="4673600" y="13208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39F97884-5992-3058-A9A8-ACAEAE7F9B83}"/>
              </a:ext>
            </a:extLst>
          </p:cNvPr>
          <p:cNvSpPr/>
          <p:nvPr/>
        </p:nvSpPr>
        <p:spPr>
          <a:xfrm>
            <a:off x="4927600" y="16002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9C28B8-72A4-43CA-CB70-94CAD8003009}"/>
              </a:ext>
            </a:extLst>
          </p:cNvPr>
          <p:cNvSpPr txBox="1"/>
          <p:nvPr/>
        </p:nvSpPr>
        <p:spPr>
          <a:xfrm>
            <a:off x="5588000" y="16002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ОСНОВНАЯ ЦА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927D53-7B8E-E6F0-FAFA-96F8A7D79AC8}"/>
              </a:ext>
            </a:extLst>
          </p:cNvPr>
          <p:cNvSpPr txBox="1"/>
          <p:nvPr/>
        </p:nvSpPr>
        <p:spPr>
          <a:xfrm>
            <a:off x="5588000" y="18796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dirty="0">
                <a:solidFill>
                  <a:srgbClr val="0F1B3D"/>
                </a:solidFill>
                <a:latin typeface="Arial" panose="020B0604020202020204" pitchFamily="34" charset="0"/>
              </a:rPr>
              <a:t>Владельцы малых и средних производственных предприятий.</a:t>
            </a:r>
          </a:p>
        </p:txBody>
      </p: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2B0D194A-0596-4463-6964-F6E559486180}"/>
              </a:ext>
            </a:extLst>
          </p:cNvPr>
          <p:cNvSpPr/>
          <p:nvPr/>
        </p:nvSpPr>
        <p:spPr>
          <a:xfrm>
            <a:off x="4673600" y="28702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E4800A70-2D8F-AEEA-B082-9F7B800E5DD5}"/>
              </a:ext>
            </a:extLst>
          </p:cNvPr>
          <p:cNvSpPr/>
          <p:nvPr/>
        </p:nvSpPr>
        <p:spPr>
          <a:xfrm>
            <a:off x="4927600" y="31496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2EB3D7-365D-2EF5-7E14-FDD75CBEE45D}"/>
              </a:ext>
            </a:extLst>
          </p:cNvPr>
          <p:cNvSpPr txBox="1"/>
          <p:nvPr/>
        </p:nvSpPr>
        <p:spPr>
          <a:xfrm>
            <a:off x="5588000" y="31496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СЕГМЕНТ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265B11-1D29-F3EC-F456-BFD67411C418}"/>
              </a:ext>
            </a:extLst>
          </p:cNvPr>
          <p:cNvSpPr txBox="1"/>
          <p:nvPr/>
        </p:nvSpPr>
        <p:spPr>
          <a:xfrm>
            <a:off x="5588000" y="34290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dirty="0">
                <a:solidFill>
                  <a:srgbClr val="0F1B3D"/>
                </a:solidFill>
                <a:latin typeface="Arial" panose="020B0604020202020204" pitchFamily="34" charset="0"/>
              </a:rPr>
              <a:t>Производственные предприятия РУСАЛ.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1CAC03A0-214E-5FC7-FB67-D90A367F249C}"/>
              </a:ext>
            </a:extLst>
          </p:cNvPr>
          <p:cNvSpPr/>
          <p:nvPr/>
        </p:nvSpPr>
        <p:spPr>
          <a:xfrm>
            <a:off x="4673600" y="4419600"/>
            <a:ext cx="6908800" cy="2108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E9E81BB4-8AF8-2BDC-EE64-DEA8DE16609A}"/>
              </a:ext>
            </a:extLst>
          </p:cNvPr>
          <p:cNvSpPr/>
          <p:nvPr/>
        </p:nvSpPr>
        <p:spPr>
          <a:xfrm>
            <a:off x="4927600" y="4699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22496D-F8C5-CF43-D46E-90DCB962B376}"/>
              </a:ext>
            </a:extLst>
          </p:cNvPr>
          <p:cNvSpPr txBox="1"/>
          <p:nvPr/>
        </p:nvSpPr>
        <p:spPr>
          <a:xfrm>
            <a:off x="5588000" y="46990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КОНТЕКСТ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97DB5A-3005-DADB-8D1F-99078083C46F}"/>
              </a:ext>
            </a:extLst>
          </p:cNvPr>
          <p:cNvSpPr txBox="1"/>
          <p:nvPr/>
        </p:nvSpPr>
        <p:spPr>
          <a:xfrm>
            <a:off x="5588000" y="4978400"/>
            <a:ext cx="5715000" cy="14630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0F1B3D"/>
                </a:solidFill>
                <a:latin typeface="Arial" panose="020B0604020202020204" pitchFamily="34" charset="0"/>
              </a:rPr>
              <a:t>Проблема возникает на производственных объектах РУСАЛ при эксплуатации и техническом обслуживании оборудования.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0F1B3D"/>
                </a:solidFill>
                <a:latin typeface="Arial" panose="020B0604020202020204" pitchFamily="34" charset="0"/>
              </a:rPr>
              <a:t>Сейчас состояние контролируется плановыми осмотрами и показаниями приборов, а неисправности часто выявляются уже при появлении отклонений или отказе оборудования.</a:t>
            </a:r>
          </a:p>
        </p:txBody>
      </p:sp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78C458BD-7592-2DBB-66AF-170E1E03C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1587500"/>
            <a:ext cx="1651000" cy="1651000"/>
          </a:xfrm>
          <a:prstGeom prst="ellipse">
            <a:avLst/>
          </a:prstGeom>
          <a:ln w="63500" cap="rnd">
            <a:solidFill>
              <a:srgbClr val="52C0A7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2772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30C3-D144-9786-3491-CE174604A80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7B171-7ECB-1ED3-D93F-4E9D75AFBCA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05 /11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B845745-7E20-320A-0087-0527C74AB10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1B4B66FD-F435-7C17-D350-2AD351260734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ADAB74C-F431-9350-71AB-974ED36E242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83AE699-6108-D747-4EC5-C77E68ACD9C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9BBED82-C31C-727B-C84E-7DBB4742E5B7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DCCC5E9-D85D-7B03-5434-D44A77CD1CA9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A8FFD90-6C58-E810-8B58-97F9D3B8B687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0B7519F-6B70-ADA6-3216-4CB5C37F26A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E7009FEC-E36C-8C13-610D-954527E15E9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31C221F-E1C8-1D93-7194-FB70258F3CB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C142320-4D8E-D458-941C-F5153A5B2092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C6D7C0C-26E5-0142-A059-9F593EF615B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F0A95D-824A-3C3E-8104-D6FA466C3420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31B85C5-A21D-A791-35A8-8D953D6F629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142C75E-B0BC-C09D-27A7-3ABD329C83E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737EFE9-4A4F-99CD-4308-130F8B18A54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57A66CC-87CC-2AFD-5175-871BE074F88B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41770E3-D9B2-2226-A7E9-BA35B6BE3E2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A392808F-5C93-678A-68B7-726AFE03B4D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E3A129F-FCF5-C070-4F66-FB4DB6473489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87E3A7A-0E62-527D-A2DC-51B6F91D901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A7B157A-9CA9-A442-7316-5B9AD712BFD4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1D3FE673-D6B7-8F95-6FE9-90F09BE3A946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49312BD8-55AE-5C20-91B7-BD5B5FBE895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5DB632F-87CD-A2F8-0683-9CC71AF281A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B736626B-7072-B270-DDF2-99EF02B066F9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4C36A90-E70F-B8BB-98A7-3778E73BFEE4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F590B6C-F52F-F2A1-1040-F3879F3A1351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F6798FB0-2739-0CE2-FC75-C252CD3D34E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981A733-C286-F8E5-3CAD-AE2A67114894}"/>
              </a:ext>
            </a:extLst>
          </p:cNvPr>
          <p:cNvSpPr txBox="1"/>
          <p:nvPr/>
        </p:nvSpPr>
        <p:spPr>
          <a:xfrm>
            <a:off x="607060" y="515620"/>
            <a:ext cx="653034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Предлагаемое решение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D1AC979-973C-0D7B-3FE7-0331EE9FDE2E}"/>
              </a:ext>
            </a:extLst>
          </p:cNvPr>
          <p:cNvSpPr/>
          <p:nvPr/>
        </p:nvSpPr>
        <p:spPr>
          <a:xfrm>
            <a:off x="609600" y="1320800"/>
            <a:ext cx="6604000" cy="190500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733BCA-DDEC-22DE-225A-A5435985F562}"/>
              </a:ext>
            </a:extLst>
          </p:cNvPr>
          <p:cNvSpPr txBox="1"/>
          <p:nvPr/>
        </p:nvSpPr>
        <p:spPr>
          <a:xfrm>
            <a:off x="914400" y="15240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НАШ ПРОДУКТ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505BF-E63E-73BD-E1DF-C18F17FE13E9}"/>
              </a:ext>
            </a:extLst>
          </p:cNvPr>
          <p:cNvSpPr txBox="1"/>
          <p:nvPr/>
        </p:nvSpPr>
        <p:spPr>
          <a:xfrm>
            <a:off x="914400" y="1905000"/>
            <a:ext cx="6223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 b="1" dirty="0">
                <a:solidFill>
                  <a:srgbClr val="FFFFFF"/>
                </a:solidFill>
                <a:latin typeface="Arial" panose="020B0604020202020204" pitchFamily="34" charset="0"/>
              </a:rPr>
              <a:t>Облачная система, которая анализирует данные с датчиков оборудования РУСАЛ и автоматически выявляет признаки неисправностей. Система заранее предупреждает об аномалиях, чтобы предотвратить аварийные простои.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2A32F-68C1-1408-6398-107ED7EDE452}"/>
              </a:ext>
            </a:extLst>
          </p:cNvPr>
          <p:cNvSpPr txBox="1"/>
          <p:nvPr/>
        </p:nvSpPr>
        <p:spPr>
          <a:xfrm>
            <a:off x="609600" y="35052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КАК РЕШАЕМ ПРОБЛЕМУ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42D52D-DADE-F20A-80E2-AB4BC44F079F}"/>
              </a:ext>
            </a:extLst>
          </p:cNvPr>
          <p:cNvSpPr/>
          <p:nvPr/>
        </p:nvSpPr>
        <p:spPr>
          <a:xfrm>
            <a:off x="6096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89672-E0C9-D9CA-B1D5-4C7DF01FE964}"/>
              </a:ext>
            </a:extLst>
          </p:cNvPr>
          <p:cNvSpPr txBox="1"/>
          <p:nvPr/>
        </p:nvSpPr>
        <p:spPr>
          <a:xfrm>
            <a:off x="8128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0F1B3D"/>
                </a:solidFill>
                <a:latin typeface="Arial" panose="020B0604020202020204" pitchFamily="34" charset="0"/>
              </a:rPr>
              <a:t>Проблема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CF601-EEEC-007C-5629-44CFD81C4920}"/>
              </a:ext>
            </a:extLst>
          </p:cNvPr>
          <p:cNvSpPr txBox="1"/>
          <p:nvPr/>
        </p:nvSpPr>
        <p:spPr>
          <a:xfrm>
            <a:off x="812800" y="45974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Позднее выявление неисправностей оборудования.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70004-54D9-1515-0105-711E81C0762E}"/>
              </a:ext>
            </a:extLst>
          </p:cNvPr>
          <p:cNvSpPr txBox="1"/>
          <p:nvPr/>
        </p:nvSpPr>
        <p:spPr>
          <a:xfrm>
            <a:off x="25654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53B6FB2-2876-5808-E5C5-6CD415DBC139}"/>
              </a:ext>
            </a:extLst>
          </p:cNvPr>
          <p:cNvSpPr/>
          <p:nvPr/>
        </p:nvSpPr>
        <p:spPr>
          <a:xfrm>
            <a:off x="29210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60942-A611-7D41-6E78-46811FB3AB4B}"/>
              </a:ext>
            </a:extLst>
          </p:cNvPr>
          <p:cNvSpPr txBox="1"/>
          <p:nvPr/>
        </p:nvSpPr>
        <p:spPr>
          <a:xfrm>
            <a:off x="31242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0F1B3D"/>
                </a:solidFill>
                <a:latin typeface="Arial" panose="020B0604020202020204" pitchFamily="34" charset="0"/>
              </a:rPr>
              <a:t>Механика решения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AC021-645A-65AF-49DB-5FE5CA0CD009}"/>
              </a:ext>
            </a:extLst>
          </p:cNvPr>
          <p:cNvSpPr txBox="1"/>
          <p:nvPr/>
        </p:nvSpPr>
        <p:spPr>
          <a:xfrm>
            <a:off x="3124200" y="4597400"/>
            <a:ext cx="154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Система анализирует данные с датчиков и выявляет аномалии в работе оборудования.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46D3B-F136-9DE9-711F-D237CA9FD703}"/>
              </a:ext>
            </a:extLst>
          </p:cNvPr>
          <p:cNvSpPr txBox="1"/>
          <p:nvPr/>
        </p:nvSpPr>
        <p:spPr>
          <a:xfrm>
            <a:off x="48768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E25D1AB4-8354-1C85-F3FC-F220335C3177}"/>
              </a:ext>
            </a:extLst>
          </p:cNvPr>
          <p:cNvSpPr/>
          <p:nvPr/>
        </p:nvSpPr>
        <p:spPr>
          <a:xfrm>
            <a:off x="52324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E7DFB-5D86-3056-3892-3D06837F8B6A}"/>
              </a:ext>
            </a:extLst>
          </p:cNvPr>
          <p:cNvSpPr txBox="1"/>
          <p:nvPr/>
        </p:nvSpPr>
        <p:spPr>
          <a:xfrm>
            <a:off x="54356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0F1B3D"/>
                </a:solidFill>
                <a:latin typeface="Arial" panose="020B0604020202020204" pitchFamily="34" charset="0"/>
              </a:rPr>
              <a:t>Результат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EF5C2-C386-4B3F-389B-014829FD83DD}"/>
              </a:ext>
            </a:extLst>
          </p:cNvPr>
          <p:cNvSpPr txBox="1"/>
          <p:nvPr/>
        </p:nvSpPr>
        <p:spPr>
          <a:xfrm>
            <a:off x="5435600" y="45974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Своевременное выявление неисправностей и предотвращение простоев.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2C14BA-6141-00E8-77EF-38BB4598FED5}"/>
              </a:ext>
            </a:extLst>
          </p:cNvPr>
          <p:cNvSpPr txBox="1"/>
          <p:nvPr/>
        </p:nvSpPr>
        <p:spPr>
          <a:xfrm>
            <a:off x="7721600" y="3314700"/>
            <a:ext cx="365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200" b="1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66B04365-7F11-1FF6-F18F-D2F362D6711E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88F955-551F-650D-C54F-7FCAD54247A5}"/>
              </a:ext>
            </a:extLst>
          </p:cNvPr>
          <p:cNvSpPr txBox="1"/>
          <p:nvPr/>
        </p:nvSpPr>
        <p:spPr>
          <a:xfrm>
            <a:off x="7721600" y="508000"/>
            <a:ext cx="3302000" cy="5664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Ценность</a:t>
            </a:r>
          </a:p>
        </p:txBody>
      </p: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7732916C-4A3C-4BFA-50EA-69CDFCE0E549}"/>
              </a:ext>
            </a:extLst>
          </p:cNvPr>
          <p:cNvGrpSpPr/>
          <p:nvPr/>
        </p:nvGrpSpPr>
        <p:grpSpPr>
          <a:xfrm>
            <a:off x="7518400" y="1320800"/>
            <a:ext cx="4064001" cy="2608580"/>
            <a:chOff x="7518399" y="1379220"/>
            <a:chExt cx="4064001" cy="2608580"/>
          </a:xfrm>
        </p:grpSpPr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F7F75D84-9A92-848E-D197-9B698CF2693B}"/>
                </a:ext>
              </a:extLst>
            </p:cNvPr>
            <p:cNvSpPr/>
            <p:nvPr/>
          </p:nvSpPr>
          <p:spPr>
            <a:xfrm>
              <a:off x="7518399" y="1379220"/>
              <a:ext cx="4064001" cy="2608580"/>
            </a:xfrm>
            <a:prstGeom prst="roundRect">
              <a:avLst>
                <a:gd name="adj" fmla="val 7000"/>
              </a:avLst>
            </a:prstGeom>
            <a:solidFill>
              <a:srgbClr val="F4F8FA"/>
            </a:solidFill>
            <a:ln w="9525">
              <a:solidFill>
                <a:srgbClr val="DC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69E49A2-D3FD-F5A6-BBA4-A20245751C3A}"/>
                </a:ext>
              </a:extLst>
            </p:cNvPr>
            <p:cNvSpPr txBox="1"/>
            <p:nvPr/>
          </p:nvSpPr>
          <p:spPr>
            <a:xfrm>
              <a:off x="7670800" y="1524000"/>
              <a:ext cx="3754120" cy="2344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just"/>
              <a:r>
                <a:rPr lang="ru-RU" sz="1600" dirty="0">
                  <a:solidFill>
                    <a:srgbClr val="35425F"/>
                  </a:solidFill>
                  <a:latin typeface="Arial" panose="020B0604020202020204" pitchFamily="34" charset="0"/>
                </a:rPr>
                <a:t>Облачная система предиктивной диагностики оборудования для МСБ </a:t>
              </a:r>
              <a:r>
                <a:rPr lang="en-US" sz="1600" dirty="0">
                  <a:solidFill>
                    <a:srgbClr val="35425F"/>
                  </a:solidFill>
                  <a:latin typeface="Arial" panose="020B0604020202020204" pitchFamily="34" charset="0"/>
                </a:rPr>
                <a:t>“</a:t>
              </a:r>
              <a:r>
                <a:rPr lang="en-US" sz="1600" dirty="0" err="1">
                  <a:solidFill>
                    <a:srgbClr val="35425F"/>
                  </a:solidFill>
                  <a:latin typeface="Arial" panose="020B0604020202020204" pitchFamily="34" charset="0"/>
                </a:rPr>
                <a:t>PredictGuard</a:t>
              </a:r>
              <a:r>
                <a:rPr lang="en-US" sz="1600" dirty="0">
                  <a:solidFill>
                    <a:srgbClr val="35425F"/>
                  </a:solidFill>
                  <a:latin typeface="Arial" panose="020B0604020202020204" pitchFamily="34" charset="0"/>
                </a:rPr>
                <a:t>” </a:t>
              </a:r>
              <a:r>
                <a:rPr lang="ru-RU" sz="1600" dirty="0">
                  <a:solidFill>
                    <a:srgbClr val="35425F"/>
                  </a:solidFill>
                  <a:latin typeface="Arial" panose="020B0604020202020204" pitchFamily="34" charset="0"/>
                </a:rPr>
                <a:t>помогает заранее выявлять имеющиеся неисправности, предотвращать аварийные простои производства, планировать техническое обслуживание в удобное время и снижать затраты на ремонт и восстановление оборудования.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54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06 / 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5A307CAE-D4FE-61BC-0805-21617653098B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23AC839-088C-800A-C07E-E7EFC2B20FA8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900FA75-7B51-78BA-C469-71C723B6D61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104A54D-F4C4-6EC1-6BC0-5BC3779E6BD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7DC6FF1-5B31-8BBF-CEA5-F04A2D0C055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C043EF6-68A1-26B9-1A90-80D7952738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A73092C-48E3-FE2D-2DDA-314671BCB2FA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DBD3CEA-DB45-533C-F675-B3AA252F2340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A98F202-D5FE-85D9-1617-394A29177AFD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833D220-BC3C-E4EF-6A33-AEEEF55D3AA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E26C02-A69C-8DCF-15EA-0A20F76CFA80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D10AEEF-1C1D-6196-A8ED-080DF0CA4E44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8CF15D4-15EE-12A6-78B3-3F0ED065BAF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CF8C52B-4582-59F7-2A19-E5AA8D3A9342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8AA342C0-8EED-62C4-A982-D24EE7BE449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D2C90BF-2D80-E4B4-62F9-0E3B7A1CC6D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B5556CD-EE91-AC2F-5587-D458DB0C422F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512EDD7-DB62-C172-F236-7CBEC7B6C161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627744A8-3666-84AF-23B6-20DE9942333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74639A0-915A-1CA2-D63C-ED5B9DF5594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B861A95-B934-5A10-39EF-511EFAE7772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530CDA2-4A70-2274-B6FE-81A337A4D40E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1783F43-53DA-22F9-8D60-B82B5AC358C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F25574E-BEBC-FDEA-E813-F92CA5453B6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B4A53B2-F49E-9FE1-1C54-DDFB24C0117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D673A5C-960C-2FB9-03A1-C318A6FF38B3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0129FE1-6000-5148-72E8-035A7D4DBDD6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68B88AA-035E-CF13-9E96-1C955D52C9F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0EA62EB-6878-E4A7-0485-6DBC7CE09F8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Архитектура и 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MVP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47919DE0-BB4B-AEB8-DF7E-44C32AF6198C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143F11-0028-A991-B424-211DA3B3BB4E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22A889"/>
                </a:solidFill>
                <a:latin typeface="Arial" panose="020B0604020202020204" pitchFamily="34" charset="0"/>
              </a:rPr>
              <a:t>ПОДСКАЗКА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30623B-8393-4DCE-FFD4-0ED66E2E0BB3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35425F"/>
                </a:solidFill>
                <a:latin typeface="Arial" panose="020B0604020202020204" pitchFamily="34" charset="0"/>
              </a:rPr>
              <a:t>Покажите только функции, которые действительно нужны для решения проблемы. Лишние карточки удалите.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C516BE-AB93-C869-E3C5-2BEC2B827AC7}"/>
              </a:ext>
            </a:extLst>
          </p:cNvPr>
          <p:cNvSpPr txBox="1"/>
          <p:nvPr/>
        </p:nvSpPr>
        <p:spPr>
          <a:xfrm>
            <a:off x="609600" y="1642408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MQTT/TLS,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микросервисы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PostgreSQL, Redis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У клиента: только шлюз + интернет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Стек: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Python,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scikit-learn,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936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4B0E2-BBA5-CE43-2543-85574D320A31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ГЛАВНОЕ ОТЛИЧИЕ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9A137-FAF5-F0BB-0F3D-4B6FDC1B9B9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07 / 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6B467314-FDC2-EDD7-8B52-F22FCB9C08A5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23B2A64-18F5-E291-1A6E-FEEA3E071C06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BA97DEB-3209-6C4F-1222-38F69B6F864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C2A37FD-960B-EA9B-FBE4-A13DD79E66A3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F29764A-0A37-BF7A-D00A-B8A6DE76E105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0BFCA72-4940-49D5-F42E-4273E35A4A4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9693858-1E11-C515-0FF4-0E51805A1042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D393096-A2B0-6CC4-E411-4BCEE217562A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BB76C3D-02C0-16F2-034B-BCF6950BEAC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08B162A-1E45-3F79-B84C-9278FAC37B9D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FCF9285-84CD-CC8A-A2BB-8E77E3F8AF3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1ECC5F7-9E77-3CC7-B4B4-1AB9E695A65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5C04CC1-C621-4BB7-563A-BDD786B564D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9769C0F-0DFC-406C-03CF-248BEF4CF96E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E75A6BB7-9ADE-53FF-33EF-D3328FD3836D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1CF1239-BA43-56D8-4E52-EC3367417E0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274341B-0086-8359-F3F4-495680513874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52831725-310E-003B-660E-B62C33244B25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E3D8DF4-E120-1A63-ABE0-306191FA242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7521F739-4152-9755-7891-54D50BA29B17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3834688-7880-ADA2-4948-AFF17BEE31DA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6A58923-AA62-A71F-D9B0-ADA7D068D172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FCBE72C-8843-E76C-567A-8C4D749FC558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9B5C589-A8B9-00BD-8401-DBBCF2C6CB6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058D8DFF-2D91-9160-7D0C-8986508CAD9B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AEFF877-9A21-1777-5831-E764827FB1B5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5728125-4E74-3463-FC12-98C6CCC7ABE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0CE4F64C-9681-DB7B-1FB2-4FC23738DEB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58CC6418-743D-D9C8-9C98-BC096C8845EC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6091AF9-D03D-A387-6A36-0B73C91FF6E8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Бизнес-модель и 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ROI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8D7D58A-0C16-37DF-608B-E9694CE5FBA4}"/>
              </a:ext>
            </a:extLst>
          </p:cNvPr>
          <p:cNvSpPr/>
          <p:nvPr/>
        </p:nvSpPr>
        <p:spPr>
          <a:xfrm>
            <a:off x="787400" y="1447800"/>
            <a:ext cx="5677568" cy="4445000"/>
          </a:xfrm>
          <a:prstGeom prst="roundRect">
            <a:avLst>
              <a:gd name="adj" fmla="val 7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5231C5F1-695B-7DFC-0F7C-1FFAC9C9A504}"/>
              </a:ext>
            </a:extLst>
          </p:cNvPr>
          <p:cNvSpPr/>
          <p:nvPr/>
        </p:nvSpPr>
        <p:spPr>
          <a:xfrm>
            <a:off x="6757202" y="1397000"/>
            <a:ext cx="4825198" cy="42926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4" name="Таблица 53">
            <a:extLst>
              <a:ext uri="{FF2B5EF4-FFF2-40B4-BE49-F238E27FC236}">
                <a16:creationId xmlns:a16="http://schemas.microsoft.com/office/drawing/2014/main" id="{A3638E4F-E474-2660-11DB-FF0299A68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799410"/>
              </p:ext>
            </p:extLst>
          </p:nvPr>
        </p:nvGraphicFramePr>
        <p:xfrm>
          <a:off x="787400" y="1441517"/>
          <a:ext cx="5677568" cy="4470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38784">
                  <a:extLst>
                    <a:ext uri="{9D8B030D-6E8A-4147-A177-3AD203B41FA5}">
                      <a16:colId xmlns:a16="http://schemas.microsoft.com/office/drawing/2014/main" val="2187029379"/>
                    </a:ext>
                  </a:extLst>
                </a:gridCol>
                <a:gridCol w="2838784">
                  <a:extLst>
                    <a:ext uri="{9D8B030D-6E8A-4147-A177-3AD203B41FA5}">
                      <a16:colId xmlns:a16="http://schemas.microsoft.com/office/drawing/2014/main" val="1644166687"/>
                    </a:ext>
                  </a:extLst>
                </a:gridCol>
              </a:tblGrid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Тариф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Цена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173752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5 000 руб./</a:t>
                      </a: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мес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668015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Business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12 000 руб./</a:t>
                      </a: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мес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69212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Enterprise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От 20 000 руб./</a:t>
                      </a: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мес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203934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Датчики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Jn 30 000 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руб. разово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96982"/>
                  </a:ext>
                </a:extLst>
              </a:tr>
            </a:tbl>
          </a:graphicData>
        </a:graphic>
      </p:graphicFrame>
      <p:graphicFrame>
        <p:nvGraphicFramePr>
          <p:cNvPr id="55" name="Таблица 54">
            <a:extLst>
              <a:ext uri="{FF2B5EF4-FFF2-40B4-BE49-F238E27FC236}">
                <a16:creationId xmlns:a16="http://schemas.microsoft.com/office/drawing/2014/main" id="{504AFFF0-8AEA-8FCA-7C50-4060BB9B3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520362"/>
              </p:ext>
            </p:extLst>
          </p:nvPr>
        </p:nvGraphicFramePr>
        <p:xfrm>
          <a:off x="6757202" y="1411706"/>
          <a:ext cx="4809958" cy="4277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979">
                  <a:extLst>
                    <a:ext uri="{9D8B030D-6E8A-4147-A177-3AD203B41FA5}">
                      <a16:colId xmlns:a16="http://schemas.microsoft.com/office/drawing/2014/main" val="2290496377"/>
                    </a:ext>
                  </a:extLst>
                </a:gridCol>
                <a:gridCol w="2404979">
                  <a:extLst>
                    <a:ext uri="{9D8B030D-6E8A-4147-A177-3AD203B41FA5}">
                      <a16:colId xmlns:a16="http://schemas.microsoft.com/office/drawing/2014/main" val="2740466167"/>
                    </a:ext>
                  </a:extLst>
                </a:gridCol>
              </a:tblGrid>
              <a:tr h="1003641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Параметр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854180"/>
                  </a:ext>
                </a:extLst>
              </a:tr>
              <a:tr h="4309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CAPEX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1 210 000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руб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069899"/>
                  </a:ext>
                </a:extLst>
              </a:tr>
              <a:tr h="4309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OPEX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500 000 руб./год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531994"/>
                  </a:ext>
                </a:extLst>
              </a:tr>
              <a:tr h="4309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ROI (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 года)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210%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133706"/>
                  </a:ext>
                </a:extLst>
              </a:tr>
              <a:tr h="43097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Окупаемость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 месяцев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508480"/>
                  </a:ext>
                </a:extLst>
              </a:tr>
              <a:tr h="4309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NPV (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 года)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4 200 000 руб.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34877"/>
                  </a:ext>
                </a:extLst>
              </a:tr>
              <a:tr h="68839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Точка безубыточности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10 клиентов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469739"/>
                  </a:ext>
                </a:extLst>
              </a:tr>
              <a:tr h="43097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Выручка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3 600 000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7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33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54B2787E-0A4E-5D4F-CEA9-97AC9A768961}"/>
              </a:ext>
            </a:extLst>
          </p:cNvPr>
          <p:cNvSpPr/>
          <p:nvPr/>
        </p:nvSpPr>
        <p:spPr>
          <a:xfrm>
            <a:off x="2032000" y="1206500"/>
            <a:ext cx="8128000" cy="3670300"/>
          </a:xfrm>
          <a:prstGeom prst="roundRect">
            <a:avLst>
              <a:gd name="adj" fmla="val 7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08 / 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4A218C37-98E6-4DFF-CC79-3DE0FD615B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E09DBC5-86BA-CA7B-2FAA-857961E5DAE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F3B09AB-9174-D36B-951F-5C706CE713A0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3194180-8BE1-D5BD-8659-1310948872B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756EB55-DFA5-69A2-6A44-E3D91E821CD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88C1280D-3E4D-D2E4-F2EE-5ABC6ACC0FB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70CCD9BB-18A0-B425-294B-166D052BD7F0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6DC5417-1371-6668-54DE-446A5996A927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9A64FA6-02B6-B0DF-020D-36FBFC1E67D0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AC1FB737-E6A6-3C01-22EE-D76FC4CAC01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C57E28-9357-12D3-9259-E0BAAF28E554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688EE07-F4D7-3AE7-5F68-E6BCC33026F1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B8E5EFE-4E84-5878-0732-D0FAA9292712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4097696-C1ED-35D4-C464-9738C07544F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F066E6A-3459-2031-85D2-E432C7662D08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8644A8A-6295-B751-6ACC-9E07915F2FC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1EFFE68-616E-7D84-F880-EFEFB242CDF9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0FB814B-4E09-E75A-6102-57A51BA642C2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FC6135C-9645-7B9A-9014-6F90AC7C873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6947C61-E56F-985B-4461-EF2C55DB2164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6DEC0BD-98BF-8DB4-8D65-F27844B8EFF8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B831DAA-56ED-AAD2-DACA-154B00A1BFB3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E97A4B78-6E10-BD17-DE81-976DCE8CD94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1613DB59-F43B-7790-BF71-3B939508EE5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710EC174-52C4-0825-9E4F-9E6669D7EB4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71E1B4E-F208-7713-C571-EE532F36A8C7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5197D6AD-55AB-BD54-74D3-0333A347750A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D705E6F-070E-151D-32D5-28FE5FAD8895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8073DBB-3E53-5907-92C9-666649EB572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Риски и </a:t>
            </a:r>
            <a:r>
              <a:rPr lang="ru-RU" sz="3000" dirty="0" err="1">
                <a:solidFill>
                  <a:srgbClr val="0F1B3D"/>
                </a:solidFill>
                <a:latin typeface="Arial Black" panose="020B0A04020102020204" pitchFamily="34" charset="0"/>
              </a:rPr>
              <a:t>митигация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E440E92F-CDE7-FF2D-BE0D-A9A131D55EC4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4" name="Таблица 33">
            <a:extLst>
              <a:ext uri="{FF2B5EF4-FFF2-40B4-BE49-F238E27FC236}">
                <a16:creationId xmlns:a16="http://schemas.microsoft.com/office/drawing/2014/main" id="{685A7FE6-E2A7-3430-5367-CB65FE7CC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519187"/>
              </p:ext>
            </p:extLst>
          </p:nvPr>
        </p:nvGraphicFramePr>
        <p:xfrm>
          <a:off x="2032000" y="1206499"/>
          <a:ext cx="8128000" cy="367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525172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76876919"/>
                    </a:ext>
                  </a:extLst>
                </a:gridCol>
              </a:tblGrid>
              <a:tr h="56885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Риск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Митигация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747157"/>
                  </a:ext>
                </a:extLst>
              </a:tr>
              <a:tr h="98186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Низкое принятие МСБ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Простой 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UX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, обучение, пилоты, обратная связь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026502"/>
                  </a:ext>
                </a:extLst>
              </a:tr>
              <a:tr h="56885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Неточность моделей 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&lt;85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Тесты, дообучение,. консультация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633071"/>
                  </a:ext>
                </a:extLst>
              </a:tr>
              <a:tr h="98186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Нехватка финансирования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Гранты, бизнес-ангел, собственные средства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280163"/>
                  </a:ext>
                </a:extLst>
              </a:tr>
              <a:tr h="56885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Конкуренция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Цена, 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AI-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агент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2937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44058A9-E295-88C9-E769-CBB140608AA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4082E48E-AD29-D016-378E-EF697E664176}"/>
              </a:ext>
            </a:extLst>
          </p:cNvPr>
          <p:cNvSpPr/>
          <p:nvPr/>
        </p:nvSpPr>
        <p:spPr>
          <a:xfrm>
            <a:off x="859789" y="1360616"/>
            <a:ext cx="6679997" cy="449579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067A4-A2D6-ADFA-4F31-D1F5656763F0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9 / 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864B0945-D2C5-8C7B-9758-E18732F78C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9C7B47C-7408-3FF4-156A-0CD3D73F732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1B322C-1D7B-CC04-7E36-B09048B74CF3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9F17F71-6218-69E5-05B1-EEE247C1093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35A30F7-ED53-AC9D-34FB-4F6925F3C51C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6A0A320-EE7E-94CD-926F-B635F41512F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FE5F157-ECEC-F3BA-AC01-B9A45577ED7E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01AE495-B83D-BFBA-9E32-137DCA2E459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5621DC9-3A43-2057-CB99-29031D4CE09F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E7A7406-D636-75EE-DE77-4320E29C403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2636A01-5FA0-1877-8CD7-B6A7B565A609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7DA5A7F-18ED-1943-CD32-133FFAE3DEE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A2B505B-D50B-A589-5852-619B14C50AF8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A70926D9-6D6C-524D-5CE5-D96A51C50F59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106AF4B-E091-8C73-1A44-61D7A70A6563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58C0B827-25E2-6D1F-51B5-73FF7751497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ED21031-2AF0-1DA6-03A7-CC62A4EF8193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EA49635-2F7F-234A-3BD4-33D753A0C9F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D0ABB53-38A5-8938-FDB5-649BFE76AC9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9823465-39A0-6EBA-E640-7C673001CCF2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3237425-D3A1-C61B-2C53-5686F6837445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C3537D7-FA97-643C-A3AE-E34FA7EBECBD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003B2ECC-1484-BFE6-7B9D-11C1BC44AD5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361B713-DA77-10B9-A687-1D2648CDE3A3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BB85CCA-6935-AD28-8D58-E6F058B59E3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B25BFA-8EED-A1CC-B5FB-D93D589F08AA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4990E04E-D57B-D175-BBB8-26F81DAA2C0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D6B8225-2A81-901A-AFE2-6C4934A03F7D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A833F5E4-357F-260D-F5F4-7B17B46CCB3A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 txBox="1"/>
          <p:nvPr/>
        </p:nvSpPr>
        <p:spPr>
          <a:xfrm>
            <a:off x="859790" y="6210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Конкуренты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E92107-8E08-EAE3-4F8B-E4BAEA5F68BF}"/>
              </a:ext>
            </a:extLst>
          </p:cNvPr>
          <p:cNvSpPr txBox="1"/>
          <p:nvPr/>
        </p:nvSpPr>
        <p:spPr>
          <a:xfrm>
            <a:off x="8128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8321921D-9068-76D3-6D1B-DB5F309F73C2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7" name="Таблица 36">
            <a:extLst>
              <a:ext uri="{FF2B5EF4-FFF2-40B4-BE49-F238E27FC236}">
                <a16:creationId xmlns:a16="http://schemas.microsoft.com/office/drawing/2014/main" id="{E91C710D-D560-16CD-50A8-0FBDA85FE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723463"/>
              </p:ext>
            </p:extLst>
          </p:nvPr>
        </p:nvGraphicFramePr>
        <p:xfrm>
          <a:off x="7789111" y="1328420"/>
          <a:ext cx="3976862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431">
                  <a:extLst>
                    <a:ext uri="{9D8B030D-6E8A-4147-A177-3AD203B41FA5}">
                      <a16:colId xmlns:a16="http://schemas.microsoft.com/office/drawing/2014/main" val="4050193694"/>
                    </a:ext>
                  </a:extLst>
                </a:gridCol>
                <a:gridCol w="1988431">
                  <a:extLst>
                    <a:ext uri="{9D8B030D-6E8A-4147-A177-3AD203B41FA5}">
                      <a16:colId xmlns:a16="http://schemas.microsoft.com/office/drawing/2014/main" val="1802628594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Альтернатива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Ограничения для МСБ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657843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ТОиР по регламенту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Избыточно, дорого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77527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Реактивное обслуживание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Максимальные потери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28565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CMMS (1C: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ТОИР,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Okdesk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Не выполняют предиктивную аналитику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87743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Ручной мониторинг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Низкая частота, человеческий фактор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35661"/>
                  </a:ext>
                </a:extLst>
              </a:tr>
            </a:tbl>
          </a:graphicData>
        </a:graphic>
      </p:graphicFrame>
      <p:graphicFrame>
        <p:nvGraphicFramePr>
          <p:cNvPr id="38" name="Таблица 37">
            <a:extLst>
              <a:ext uri="{FF2B5EF4-FFF2-40B4-BE49-F238E27FC236}">
                <a16:creationId xmlns:a16="http://schemas.microsoft.com/office/drawing/2014/main" id="{88512D9E-FCA8-666F-58F2-1B79BC921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556390"/>
              </p:ext>
            </p:extLst>
          </p:nvPr>
        </p:nvGraphicFramePr>
        <p:xfrm>
          <a:off x="859789" y="1375410"/>
          <a:ext cx="6679998" cy="4484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000">
                  <a:extLst>
                    <a:ext uri="{9D8B030D-6E8A-4147-A177-3AD203B41FA5}">
                      <a16:colId xmlns:a16="http://schemas.microsoft.com/office/drawing/2014/main" val="3292585546"/>
                    </a:ext>
                  </a:extLst>
                </a:gridCol>
                <a:gridCol w="2167835">
                  <a:extLst>
                    <a:ext uri="{9D8B030D-6E8A-4147-A177-3AD203B41FA5}">
                      <a16:colId xmlns:a16="http://schemas.microsoft.com/office/drawing/2014/main" val="1274096351"/>
                    </a:ext>
                  </a:extLst>
                </a:gridCol>
                <a:gridCol w="1474760">
                  <a:extLst>
                    <a:ext uri="{9D8B030D-6E8A-4147-A177-3AD203B41FA5}">
                      <a16:colId xmlns:a16="http://schemas.microsoft.com/office/drawing/2014/main" val="465419566"/>
                    </a:ext>
                  </a:extLst>
                </a:gridCol>
                <a:gridCol w="1367403">
                  <a:extLst>
                    <a:ext uri="{9D8B030D-6E8A-4147-A177-3AD203B41FA5}">
                      <a16:colId xmlns:a16="http://schemas.microsoft.com/office/drawing/2014/main" val="1485280865"/>
                    </a:ext>
                  </a:extLst>
                </a:gridCol>
              </a:tblGrid>
              <a:tr h="661016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Платформа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Целевой сегмент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Стоимость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Доступ в РФ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542954"/>
                  </a:ext>
                </a:extLst>
              </a:tr>
              <a:tr h="661016">
                <a:tc>
                  <a:txBody>
                    <a:bodyPr/>
                    <a:lstStyle/>
                    <a:p>
                      <a:r>
                        <a:rPr lang="en-US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Aungry</a:t>
                      </a:r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Крупные предприятия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135 000</a:t>
                      </a:r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Ограничен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733046"/>
                  </a:ext>
                </a:extLst>
              </a:tr>
              <a:tr h="538870">
                <a:tc>
                  <a:txBody>
                    <a:bodyPr/>
                    <a:lstStyle/>
                    <a:p>
                      <a:r>
                        <a:rPr lang="en-US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Tractian</a:t>
                      </a:r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Средний рынок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60/польз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Ограничен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770061"/>
                  </a:ext>
                </a:extLst>
              </a:tr>
              <a:tr h="661016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IBM Maximo Predict</a:t>
                      </a:r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Крупные предприятия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3 150</a:t>
                      </a:r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ru-RU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мес</a:t>
                      </a:r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Ограничен</a:t>
                      </a:r>
                    </a:p>
                    <a:p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405807"/>
                  </a:ext>
                </a:extLst>
              </a:tr>
              <a:tr h="661016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Uptake</a:t>
                      </a:r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Крупная промышленность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Не раскрыв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875898"/>
                  </a:ext>
                </a:extLst>
              </a:tr>
              <a:tr h="661016">
                <a:tc>
                  <a:txBody>
                    <a:bodyPr/>
                    <a:lstStyle/>
                    <a:p>
                      <a:r>
                        <a:rPr lang="en-US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Senseye</a:t>
                      </a:r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Крупная промышленность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Не раскрыв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171708"/>
                  </a:ext>
                </a:extLst>
              </a:tr>
              <a:tr h="637053">
                <a:tc>
                  <a:txBody>
                    <a:bodyPr/>
                    <a:lstStyle/>
                    <a:p>
                      <a:r>
                        <a:rPr lang="en-US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aiomatic</a:t>
                      </a:r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МСБ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203,63</a:t>
                      </a:r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Ограничен</a:t>
                      </a:r>
                    </a:p>
                    <a:p>
                      <a:endParaRPr lang="ru-RU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246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851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3C7C5-F112-A241-5555-A9972866D94D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57A4F-FFC5-0531-4AA1-25362CF2F00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10 / 11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CD72CB44-DBCA-627A-3ECD-26C504121302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ACF34C2-D1B4-9836-CF8A-D877CA27575F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E3DB0D1-4317-1EB8-9D87-AA8E74AECE5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F03C2C8-B464-ABE3-3804-7E306DB4D80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2689A18-A8BD-5F85-C350-770D38DFDF60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E75A7A9-BA9F-7300-AC15-2AE5737F3D5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F7ED531-5407-5F75-B6FD-A9455442BE61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E74FF39-FE56-18EC-28B5-4A1900D72D4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CCCBF7B-A2D3-B372-2F50-2A8E5AA9F88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9DA643B-33CB-EA2F-7E8D-5B8EC797D4F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5453158D-4AA3-0E95-5889-07E88E0860BD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075B89D-0A53-190A-B764-C34C241C04DB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E740332-4E8D-6217-99D2-C72C1101A4B4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95514AB-DA45-AC4B-83BB-7049037B300D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C9D1794-E6EA-BE16-F559-20DC4F68D37C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EB048D5-3BB3-F546-4FD5-EFD68169E17D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F655959D-B556-8E3A-EAE1-26441E39BCE0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C1CA9D4B-4C85-A36B-6140-D126A6E36C94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82C7C1B-F4AE-5BE5-E24D-BE1A71D88E57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96D0FE89-E0A7-D1DF-6CFC-40163D230113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2D1D948-A0B7-7356-2057-716CAD2BC2A2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FBD34DD-523E-1972-4FC0-96A2D5C1D3E5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2AE3E6BB-ED01-DA81-D7C3-1CFB4FB5AA82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B6E3A25-CE80-CA94-B735-114B17376867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C44B231D-2F79-EEC3-FDF0-4B5CBE08CD90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F791778-8DF6-41F9-3372-1DE070DAC782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C474C6F-85D8-C3A1-5B65-AC347069238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D556F8C2-7A93-3C60-6261-A119BA05B2D0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7695848-2C3B-5FDC-EA20-A1BF5BF9EB7D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0EB5353-F6CE-0869-F7DA-127DD7F8B11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Кому мы помогаем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6279473-B2B8-D7B5-1FCA-76C6A21C6332}"/>
              </a:ext>
            </a:extLst>
          </p:cNvPr>
          <p:cNvCxnSpPr/>
          <p:nvPr/>
        </p:nvCxnSpPr>
        <p:spPr>
          <a:xfrm>
            <a:off x="649705" y="1330960"/>
            <a:ext cx="10414000" cy="0"/>
          </a:xfrm>
          <a:prstGeom prst="line">
            <a:avLst/>
          </a:prstGeom>
          <a:ln w="25400">
            <a:solidFill>
              <a:srgbClr val="DC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Овал 34">
            <a:extLst>
              <a:ext uri="{FF2B5EF4-FFF2-40B4-BE49-F238E27FC236}">
                <a16:creationId xmlns:a16="http://schemas.microsoft.com/office/drawing/2014/main" id="{3BBDDE2D-D02D-BBAE-4CF7-70F759715D79}"/>
              </a:ext>
            </a:extLst>
          </p:cNvPr>
          <p:cNvSpPr/>
          <p:nvPr/>
        </p:nvSpPr>
        <p:spPr>
          <a:xfrm>
            <a:off x="624305" y="120396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E202490-797A-8B50-DE75-671C4A43B7FD}"/>
              </a:ext>
            </a:extLst>
          </p:cNvPr>
          <p:cNvSpPr/>
          <p:nvPr/>
        </p:nvSpPr>
        <p:spPr>
          <a:xfrm>
            <a:off x="1652335" y="1518920"/>
            <a:ext cx="8127999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03968FD-882B-E7D6-11F8-2F37A233B2F5}"/>
              </a:ext>
            </a:extLst>
          </p:cNvPr>
          <p:cNvSpPr/>
          <p:nvPr/>
        </p:nvSpPr>
        <p:spPr>
          <a:xfrm>
            <a:off x="4349215" y="120396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00F86E36-DAE0-BFF2-354D-7B807A915282}"/>
              </a:ext>
            </a:extLst>
          </p:cNvPr>
          <p:cNvSpPr/>
          <p:nvPr/>
        </p:nvSpPr>
        <p:spPr>
          <a:xfrm>
            <a:off x="8074125" y="120396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01E75686-3EBD-D560-CEAA-623A98881A3E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5" name="Таблица 54">
            <a:extLst>
              <a:ext uri="{FF2B5EF4-FFF2-40B4-BE49-F238E27FC236}">
                <a16:creationId xmlns:a16="http://schemas.microsoft.com/office/drawing/2014/main" id="{B414CEDF-9DFE-1C34-2F3C-1CDA9CDD6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262289"/>
              </p:ext>
            </p:extLst>
          </p:nvPr>
        </p:nvGraphicFramePr>
        <p:xfrm>
          <a:off x="1652334" y="1551940"/>
          <a:ext cx="8127999" cy="412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064264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553564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22071557"/>
                    </a:ext>
                  </a:extLst>
                </a:gridCol>
              </a:tblGrid>
              <a:tr h="68935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Сегмент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Характеристика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Ключевая боль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573961"/>
                  </a:ext>
                </a:extLst>
              </a:tr>
              <a:tr h="68935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Владельцы малых производств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10-100 единиц сотрудников, 5-50 единиц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Внезапные простои, нет бюджета на АСУТП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10222"/>
                  </a:ext>
                </a:extLst>
              </a:tr>
              <a:tr h="68935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Главные механики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Отвечают за парк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Реактивное ТО, перегрузка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901571"/>
                  </a:ext>
                </a:extLst>
              </a:tr>
              <a:tr h="68935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Локальные сборочные цеха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Стандартизированное оборудование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Остановка одной единицы = остановка цеха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476483"/>
                  </a:ext>
                </a:extLst>
              </a:tr>
              <a:tr h="68935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Удалённые объекты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Насосные, котельные без персонала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Невозможность оперативного реагирования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781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81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7CD9-45DD-9648-78EB-C5A0A3CF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ABAF7D8C-FE01-86B6-0720-8C7933971E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3" name="PixelHeart">
            <a:extLst>
              <a:ext uri="{FF2B5EF4-FFF2-40B4-BE49-F238E27FC236}">
                <a16:creationId xmlns:a16="http://schemas.microsoft.com/office/drawing/2014/main" id="{E3864A62-FEB6-4926-0A6D-121F15F83FD1}"/>
              </a:ext>
            </a:extLst>
          </p:cNvPr>
          <p:cNvGrpSpPr/>
          <p:nvPr/>
        </p:nvGrpSpPr>
        <p:grpSpPr>
          <a:xfrm>
            <a:off x="10033000" y="1905000"/>
            <a:ext cx="1155700" cy="977900"/>
            <a:chOff x="10033000" y="1905000"/>
            <a:chExt cx="1155700" cy="9779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54E47A5-EECB-71DB-6299-D96E822C4D4B}"/>
                </a:ext>
              </a:extLst>
            </p:cNvPr>
            <p:cNvSpPr/>
            <p:nvPr/>
          </p:nvSpPr>
          <p:spPr>
            <a:xfrm>
              <a:off x="102108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CAD058A0-A4BB-AD03-D30E-BBDF34E5AF91}"/>
                </a:ext>
              </a:extLst>
            </p:cNvPr>
            <p:cNvSpPr/>
            <p:nvPr/>
          </p:nvSpPr>
          <p:spPr>
            <a:xfrm>
              <a:off x="102997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4EBCDFE-27BF-74CF-63BB-C83DF971DCF4}"/>
                </a:ext>
              </a:extLst>
            </p:cNvPr>
            <p:cNvSpPr/>
            <p:nvPr/>
          </p:nvSpPr>
          <p:spPr>
            <a:xfrm>
              <a:off x="103886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8B90920-D62A-FD85-CBD8-A9C4468E5F9D}"/>
                </a:ext>
              </a:extLst>
            </p:cNvPr>
            <p:cNvSpPr/>
            <p:nvPr/>
          </p:nvSpPr>
          <p:spPr>
            <a:xfrm>
              <a:off x="107442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5A22996-F109-7D8C-9EC1-1E30CDF79606}"/>
                </a:ext>
              </a:extLst>
            </p:cNvPr>
            <p:cNvSpPr/>
            <p:nvPr/>
          </p:nvSpPr>
          <p:spPr>
            <a:xfrm>
              <a:off x="108331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7140CC7-C2F1-0C36-03AB-87341F39E199}"/>
                </a:ext>
              </a:extLst>
            </p:cNvPr>
            <p:cNvSpPr/>
            <p:nvPr/>
          </p:nvSpPr>
          <p:spPr>
            <a:xfrm>
              <a:off x="109220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F2A6F5B2-AFB3-DE68-BABE-63CED9D22373}"/>
                </a:ext>
              </a:extLst>
            </p:cNvPr>
            <p:cNvSpPr/>
            <p:nvPr/>
          </p:nvSpPr>
          <p:spPr>
            <a:xfrm>
              <a:off x="10121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A7D0BBF-168E-E780-9ADB-8A750793D311}"/>
                </a:ext>
              </a:extLst>
            </p:cNvPr>
            <p:cNvSpPr/>
            <p:nvPr/>
          </p:nvSpPr>
          <p:spPr>
            <a:xfrm>
              <a:off x="104775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798DCA3-8EE0-10C7-703A-68687BE7B37A}"/>
                </a:ext>
              </a:extLst>
            </p:cNvPr>
            <p:cNvSpPr/>
            <p:nvPr/>
          </p:nvSpPr>
          <p:spPr>
            <a:xfrm>
              <a:off x="106553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0AF1A076-0F1E-2DF8-079A-6964E9CA0FDC}"/>
                </a:ext>
              </a:extLst>
            </p:cNvPr>
            <p:cNvSpPr/>
            <p:nvPr/>
          </p:nvSpPr>
          <p:spPr>
            <a:xfrm>
              <a:off x="11010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7BAB969-201F-AE5F-717D-A9724E49E011}"/>
                </a:ext>
              </a:extLst>
            </p:cNvPr>
            <p:cNvSpPr/>
            <p:nvPr/>
          </p:nvSpPr>
          <p:spPr>
            <a:xfrm>
              <a:off x="100330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C1E0EB02-8536-E6A0-839A-95105A5EBC26}"/>
                </a:ext>
              </a:extLst>
            </p:cNvPr>
            <p:cNvSpPr/>
            <p:nvPr/>
          </p:nvSpPr>
          <p:spPr>
            <a:xfrm>
              <a:off x="105664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A5338EC-95A9-0B94-45EA-DBE82CCCE0B5}"/>
                </a:ext>
              </a:extLst>
            </p:cNvPr>
            <p:cNvSpPr/>
            <p:nvPr/>
          </p:nvSpPr>
          <p:spPr>
            <a:xfrm>
              <a:off x="110998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912D6086-D3FD-76F9-B6AC-2CB4532D6FD8}"/>
                </a:ext>
              </a:extLst>
            </p:cNvPr>
            <p:cNvSpPr/>
            <p:nvPr/>
          </p:nvSpPr>
          <p:spPr>
            <a:xfrm>
              <a:off x="100330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8843F73-8B1F-8219-555C-155D299C06BA}"/>
                </a:ext>
              </a:extLst>
            </p:cNvPr>
            <p:cNvSpPr/>
            <p:nvPr/>
          </p:nvSpPr>
          <p:spPr>
            <a:xfrm>
              <a:off x="110998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FE72B6D6-EAE3-CCD9-3441-06DE858D00FA}"/>
                </a:ext>
              </a:extLst>
            </p:cNvPr>
            <p:cNvSpPr/>
            <p:nvPr/>
          </p:nvSpPr>
          <p:spPr>
            <a:xfrm>
              <a:off x="100330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489EA718-57E0-D8E3-BD1F-C479039366DF}"/>
                </a:ext>
              </a:extLst>
            </p:cNvPr>
            <p:cNvSpPr/>
            <p:nvPr/>
          </p:nvSpPr>
          <p:spPr>
            <a:xfrm>
              <a:off x="110998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31A1F379-8C29-36DE-6561-174075F1D133}"/>
                </a:ext>
              </a:extLst>
            </p:cNvPr>
            <p:cNvSpPr/>
            <p:nvPr/>
          </p:nvSpPr>
          <p:spPr>
            <a:xfrm>
              <a:off x="10121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AA773EB9-92EE-9B35-672E-CB498BCFA480}"/>
                </a:ext>
              </a:extLst>
            </p:cNvPr>
            <p:cNvSpPr/>
            <p:nvPr/>
          </p:nvSpPr>
          <p:spPr>
            <a:xfrm>
              <a:off x="11010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0BABE472-94B9-45ED-1788-A47619252324}"/>
                </a:ext>
              </a:extLst>
            </p:cNvPr>
            <p:cNvSpPr/>
            <p:nvPr/>
          </p:nvSpPr>
          <p:spPr>
            <a:xfrm>
              <a:off x="102108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D4638262-5B21-7C42-5B22-6613158A2BBD}"/>
                </a:ext>
              </a:extLst>
            </p:cNvPr>
            <p:cNvSpPr/>
            <p:nvPr/>
          </p:nvSpPr>
          <p:spPr>
            <a:xfrm>
              <a:off x="109220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A4D5FE84-70B8-7966-FEAD-9C1D4A8FCB53}"/>
                </a:ext>
              </a:extLst>
            </p:cNvPr>
            <p:cNvSpPr/>
            <p:nvPr/>
          </p:nvSpPr>
          <p:spPr>
            <a:xfrm>
              <a:off x="102997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B0102A4E-7137-35FA-D07E-FA3837E7548C}"/>
                </a:ext>
              </a:extLst>
            </p:cNvPr>
            <p:cNvSpPr/>
            <p:nvPr/>
          </p:nvSpPr>
          <p:spPr>
            <a:xfrm>
              <a:off x="108331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F3634E01-DC45-90B1-AB10-AB0B3DA6A3EF}"/>
                </a:ext>
              </a:extLst>
            </p:cNvPr>
            <p:cNvSpPr/>
            <p:nvPr/>
          </p:nvSpPr>
          <p:spPr>
            <a:xfrm>
              <a:off x="103886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07E97603-81D2-931B-8E99-7EAC13A73F6F}"/>
                </a:ext>
              </a:extLst>
            </p:cNvPr>
            <p:cNvSpPr/>
            <p:nvPr/>
          </p:nvSpPr>
          <p:spPr>
            <a:xfrm>
              <a:off x="107442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EAE11474-F682-9B85-AB9A-AD99442D54E8}"/>
                </a:ext>
              </a:extLst>
            </p:cNvPr>
            <p:cNvSpPr/>
            <p:nvPr/>
          </p:nvSpPr>
          <p:spPr>
            <a:xfrm>
              <a:off x="104775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05BCB22-C318-06ED-B13E-F7B82E626298}"/>
                </a:ext>
              </a:extLst>
            </p:cNvPr>
            <p:cNvSpPr/>
            <p:nvPr/>
          </p:nvSpPr>
          <p:spPr>
            <a:xfrm>
              <a:off x="106553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9049F5CC-890C-99E3-2E3F-125B19D561FF}"/>
                </a:ext>
              </a:extLst>
            </p:cNvPr>
            <p:cNvSpPr/>
            <p:nvPr/>
          </p:nvSpPr>
          <p:spPr>
            <a:xfrm>
              <a:off x="10566400" y="2794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43FE69E-8CF7-F5B6-908B-916FA554F594}"/>
              </a:ext>
            </a:extLst>
          </p:cNvPr>
          <p:cNvSpPr txBox="1"/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EAE1F8CA-AF13-374F-33FE-A2DBFCDE0541}"/>
              </a:ext>
            </a:extLst>
          </p:cNvPr>
          <p:cNvSpPr/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6F51CE-CFF0-F778-3FC1-C31906328C52}"/>
              </a:ext>
            </a:extLst>
          </p:cNvPr>
          <p:cNvSpPr txBox="1"/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E4BD8E-95AF-DF9D-5580-C653B83EC285}"/>
              </a:ext>
            </a:extLst>
          </p:cNvPr>
          <p:cNvSpPr txBox="1"/>
          <p:nvPr/>
        </p:nvSpPr>
        <p:spPr>
          <a:xfrm>
            <a:off x="609600" y="2590800"/>
            <a:ext cx="96901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00" dirty="0" err="1">
                <a:solidFill>
                  <a:srgbClr val="FFFFFF"/>
                </a:solidFill>
                <a:latin typeface="Arial Black" panose="020B0A04020102020204" pitchFamily="34" charset="0"/>
              </a:rPr>
              <a:t>PredictGuard</a:t>
            </a:r>
            <a:endParaRPr lang="ru-RU" sz="4400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F76741-AC67-2A8F-9B78-78E9297B78FD}"/>
              </a:ext>
            </a:extLst>
          </p:cNvPr>
          <p:cNvSpPr txBox="1"/>
          <p:nvPr/>
        </p:nvSpPr>
        <p:spPr>
          <a:xfrm>
            <a:off x="609600" y="3454400"/>
            <a:ext cx="812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Облачная система предиктивной диагностики оборудования для МСБ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11CC6F-DA63-FE11-F196-F03274AA4061}"/>
              </a:ext>
            </a:extLst>
          </p:cNvPr>
          <p:cNvSpPr txBox="1"/>
          <p:nvPr/>
        </p:nvSpPr>
        <p:spPr>
          <a:xfrm>
            <a:off x="6096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ED2E5F-3F1D-596E-95A1-F516B34DBF70}"/>
              </a:ext>
            </a:extLst>
          </p:cNvPr>
          <p:cNvSpPr txBox="1"/>
          <p:nvPr/>
        </p:nvSpPr>
        <p:spPr>
          <a:xfrm>
            <a:off x="609600" y="45974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Аналитики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262918-32B2-0675-6E26-7C72204AC894}"/>
              </a:ext>
            </a:extLst>
          </p:cNvPr>
          <p:cNvSpPr txBox="1"/>
          <p:nvPr/>
        </p:nvSpPr>
        <p:spPr>
          <a:xfrm>
            <a:off x="40640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DFA3DE-12C6-07B8-CFAB-D6CA8CD340E7}"/>
              </a:ext>
            </a:extLst>
          </p:cNvPr>
          <p:cNvSpPr txBox="1"/>
          <p:nvPr/>
        </p:nvSpPr>
        <p:spPr>
          <a:xfrm>
            <a:off x="4064000" y="45974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Алиев А.— лидер · Леонов В. — 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</a:rPr>
              <a:t>UX/UI-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дизайнер · Борискина К.— Аналитик · </a:t>
            </a:r>
          </a:p>
          <a:p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</a:rPr>
              <a:t>Тарбеева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 С. — Идейный разработчик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08A8BEF1-5AD9-4CC2-4EA0-4B6D0A4B34C3}"/>
              </a:ext>
            </a:extLst>
          </p:cNvPr>
          <p:cNvSpPr/>
          <p:nvPr/>
        </p:nvSpPr>
        <p:spPr>
          <a:xfrm>
            <a:off x="609600" y="5334000"/>
            <a:ext cx="109728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A48BBB-B232-8557-4897-2CA81A335495}"/>
              </a:ext>
            </a:extLst>
          </p:cNvPr>
          <p:cNvSpPr txBox="1"/>
          <p:nvPr/>
        </p:nvSpPr>
        <p:spPr>
          <a:xfrm>
            <a:off x="769620" y="5435600"/>
            <a:ext cx="1063498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</a:rPr>
              <a:t>Облачная система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</a:rPr>
              <a:t>PredictGuard</a:t>
            </a:r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</a:rPr>
              <a:t> снижает простои и затраты на ремонт оборудования.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890FCE-AF52-B933-3178-FCC743B5A38C}"/>
              </a:ext>
            </a:extLst>
          </p:cNvPr>
          <p:cNvCxnSpPr/>
          <p:nvPr/>
        </p:nvCxnSpPr>
        <p:spPr>
          <a:xfrm>
            <a:off x="609600" y="60706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170B111-C1D2-8CC1-4CA4-6497832FC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109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911</Words>
  <Application>Microsoft Office PowerPoint</Application>
  <PresentationFormat>Широкоэкранный</PresentationFormat>
  <Paragraphs>210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Plus Jakarta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Гурбатов</dc:creator>
  <cp:lastModifiedBy>Вадим Леонов</cp:lastModifiedBy>
  <cp:revision>5</cp:revision>
  <dcterms:created xsi:type="dcterms:W3CDTF">2026-09-26T12:28:36Z</dcterms:created>
  <dcterms:modified xsi:type="dcterms:W3CDTF">2026-09-27T04:10:44Z</dcterms:modified>
</cp:coreProperties>
</file>